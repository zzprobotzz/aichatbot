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et Hingu" userId="S::meet.hingu@lcieducation.net::8b3f175e-53b4-41ff-80f9-0d31b94f397b" providerId="AD" clId="Web-{6702EA6D-1071-9873-BFD1-E529E9431BDB}"/>
    <pc:docChg chg="mod">
      <pc:chgData name="Meet Hingu" userId="S::meet.hingu@lcieducation.net::8b3f175e-53b4-41ff-80f9-0d31b94f397b" providerId="AD" clId="Web-{6702EA6D-1071-9873-BFD1-E529E9431BDB}" dt="2025-09-10T13:58:52.398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00F4EB-2906-49C5-8A66-665F658CF189}" type="datetimeFigureOut"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1C2499-9DBA-4D23-95B2-8F2172151F2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546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edium.com/@yamini1020.yanamala/the-art-and-science-of-color-creating-stunning-ui-palettes-6aea0a1c13b1#:~:text=,you%20have%20balanced%20primary%20color" TargetMode="External"/><Relationship Id="rId4" Type="http://schemas.openxmlformats.org/officeDocument/2006/relationships/hyperlink" Target="https://decode.agency/article/trends-in-color-schemes-for-apps/#:~:text=Vibrant%20color%20schemes%20are%20all,very%20effective%20at%20attracting%20user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edium.com/@yamini1020.yanamala/the-art-and-science-of-color-creating-stunning-ui-palettes-6aea0a1c13b1#:~:text=,you%20have%20balanced%20primary%20color" TargetMode="External"/><Relationship Id="rId4" Type="http://schemas.openxmlformats.org/officeDocument/2006/relationships/hyperlink" Target="https://decode.agency/article/trends-in-color-schemes-for-apps/#:~:text=Vibrant%20color%20schemes%20are%20all,very%20effective%20at%20attracting%20user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edium.com/@yamini1020.yanamala/the-art-and-science-of-color-creating-stunning-ui-palettes-6aea0a1c13b1#:~:text=,you%20have%20balanced%20primary%20color" TargetMode="External"/><Relationship Id="rId4" Type="http://schemas.openxmlformats.org/officeDocument/2006/relationships/hyperlink" Target="https://decode.agency/article/trends-in-color-schemes-for-apps/#:~:text=Vibrant%20color%20schemes%20are%20all,very%20effective%20at%20attracting%20user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edium.com/@yamini1020.yanamala/the-art-and-science-of-color-creating-stunning-ui-palettes-6aea0a1c13b1#:~:text=,you%20have%20balanced%20primary%20color" TargetMode="External"/><Relationship Id="rId4" Type="http://schemas.openxmlformats.org/officeDocument/2006/relationships/hyperlink" Target="https://decode.agency/article/trends-in-color-schemes-for-apps/#:~:text=Vibrant%20color%20schemes%20are%20all,very%20effective%20at%20attracting%20user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edium.com/@yamini1020.yanamala/the-art-and-science-of-color-creating-stunning-ui-palettes-6aea0a1c13b1#:~:text=,you%20have%20balanced%20primary%20color" TargetMode="External"/><Relationship Id="rId4" Type="http://schemas.openxmlformats.org/officeDocument/2006/relationships/hyperlink" Target="https://decode.agency/article/trends-in-color-schemes-for-apps/#:~:text=Vibrant%20color%20schemes%20are%20all,very%20effective%20at%20attracting%20user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pentyphoon.ai/en/api-reference/#:~:text=All%20API%20requests%20require%20authentication,header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ublicapi.dev/edamam-nutrition-api#:~:text=The%20Edamam%20Nutrition%20API%20allows,meal%20planning%2C%20and%20health%20monitoring" TargetMode="External"/><Relationship Id="rId4" Type="http://schemas.openxmlformats.org/officeDocument/2006/relationships/hyperlink" Target="https://publicapi.dev/spoonacular-api#:~:text=Spoonacular%20offers%20a%20food%20API,both%20HTTP%20and%20HTTPS%20request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code.agency/article/trends-in-color-schemes-for-apps/#:~:text=Vibrant%20color%20schemes%20are%20all,very%20effective%20at%20attracting%20user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opentyphoon.ai/en/api-reference/#:~:text=All%20API%20requests%20require%20authentication,header" TargetMode="External"/><Relationship Id="rId4" Type="http://schemas.openxmlformats.org/officeDocument/2006/relationships/hyperlink" Target="https://medium.com/@yamini1020.yanamala/the-art-and-science-of-color-creating-stunning-ui-palettes-6aea0a1c13b1#:~:text=,you%20have%20balanced%20primary%20col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ai/share/cf811d22-dc31-454a-b7f7-d2fd07963b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731520"/>
            <a:ext cx="3200400" cy="3200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030A18"/>
                </a:solidFill>
              </a:rPr>
              <a:t>AI Chatbot App
</a:t>
            </a:r>
            <a:r>
              <a:rPr lang="en-US" sz="1800" i="1">
                <a:solidFill>
                  <a:srgbClr val="030A18"/>
                </a:solidFill>
              </a:rPr>
              <a:t>A modern mobile experience</a:t>
            </a:r>
            <a:endParaRPr lang="en-US" sz="4000"/>
          </a:p>
        </p:txBody>
      </p:sp>
      <p:sp>
        <p:nvSpPr>
          <p:cNvPr id="4" name="Text 1"/>
          <p:cNvSpPr/>
          <p:nvPr/>
        </p:nvSpPr>
        <p:spPr>
          <a:xfrm>
            <a:off x="457200" y="4297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30A18"/>
                </a:solidFill>
              </a:rPr>
              <a:t>September 10, 2025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>
                <a:solidFill>
                  <a:srgbClr val="030A18"/>
                </a:solidFill>
              </a:rPr>
              <a:t>• Welcome
• Onboarding &amp; Access
• Discover
• Profile &amp; Settings
• Notifications &amp; Engagement
• API &amp; AI Overview</a:t>
            </a:r>
            <a:endParaRPr lang="en-US" sz="1200"/>
          </a:p>
        </p:txBody>
      </p:sp>
      <p:pic>
        <p:nvPicPr>
          <p:cNvPr id="4" name="Image 0" descr="/home/oai/share/cf811d22-dc31-454a-b7f7-d2fd07963bc3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943600" y="16459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Screen</a:t>
            </a:r>
            <a:endParaRPr lang="en-US" sz="2400"/>
          </a:p>
        </p:txBody>
      </p:sp>
      <p:pic>
        <p:nvPicPr>
          <p:cNvPr id="3" name="Image 0" descr="/home/oai/share/welcome_screen_fina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488" y="1188720"/>
            <a:ext cx="1800225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30A18"/>
                </a:solidFill>
              </a:rPr>
              <a:t>First Impressions Matter
</a:t>
            </a:r>
            <a:r>
              <a:rPr lang="en-US" sz="1200">
                <a:solidFill>
                  <a:srgbClr val="030A18"/>
                </a:solidFill>
              </a:rPr>
              <a:t>The welcome screen greets users with our vibrant logo and a friendly call to action. It sets the tone for an engaging experience.</a:t>
            </a:r>
            <a:endParaRPr lang="en-US" sz="1600"/>
          </a:p>
        </p:txBody>
      </p:sp>
      <p:sp>
        <p:nvSpPr>
          <p:cNvPr id="5" name="Text 2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70C0"/>
                </a:solidFill>
                <a:hlinkClick r:id="rId4"/>
              </a:rPr>
              <a:t>[1]</a:t>
            </a:r>
            <a:r>
              <a:rPr lang="en-US" sz="600" u="sng">
                <a:solidFill>
                  <a:srgbClr val="0070C0"/>
                </a:solidFill>
              </a:rPr>
              <a:t> </a:t>
            </a:r>
            <a:r>
              <a:rPr lang="en-US" sz="600" u="sng">
                <a:solidFill>
                  <a:srgbClr val="0070C0"/>
                </a:solidFill>
                <a:hlinkClick r:id="rId5"/>
              </a:rPr>
              <a:t>[2]</a:t>
            </a:r>
            <a:endParaRPr lang="en-US" sz="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&amp; Access</a:t>
            </a:r>
            <a:endParaRPr lang="en-US" sz="2400"/>
          </a:p>
        </p:txBody>
      </p:sp>
      <p:pic>
        <p:nvPicPr>
          <p:cNvPr id="3" name="Image 0" descr="/home/oai/share/onboarding_access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192" y="1188720"/>
            <a:ext cx="1832817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30A18"/>
                </a:solidFill>
              </a:rPr>
              <a:t>Smooth Registration
</a:t>
            </a:r>
            <a:r>
              <a:rPr lang="en-US" sz="1200">
                <a:solidFill>
                  <a:srgbClr val="030A18"/>
                </a:solidFill>
              </a:rPr>
              <a:t>A clean sign‑up and login flow invites users to get started quickly. Minimal fields and clear labels promote ease of use.</a:t>
            </a:r>
            <a:endParaRPr lang="en-US" sz="1600"/>
          </a:p>
        </p:txBody>
      </p:sp>
      <p:sp>
        <p:nvSpPr>
          <p:cNvPr id="5" name="Text 2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70C0"/>
                </a:solidFill>
                <a:hlinkClick r:id="rId4"/>
              </a:rPr>
              <a:t>[1]</a:t>
            </a:r>
            <a:r>
              <a:rPr lang="en-US" sz="600" u="sng">
                <a:solidFill>
                  <a:srgbClr val="0070C0"/>
                </a:solidFill>
              </a:rPr>
              <a:t> </a:t>
            </a:r>
            <a:r>
              <a:rPr lang="en-US" sz="600" u="sng">
                <a:solidFill>
                  <a:srgbClr val="0070C0"/>
                </a:solidFill>
                <a:hlinkClick r:id="rId5"/>
              </a:rPr>
              <a:t>[2]</a:t>
            </a:r>
            <a:endParaRPr lang="en-US" sz="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2400"/>
          </a:p>
        </p:txBody>
      </p:sp>
      <p:pic>
        <p:nvPicPr>
          <p:cNvPr id="3" name="Image 0" descr="/home/oai/share/discover_screen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192" y="1188720"/>
            <a:ext cx="1832817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30A18"/>
                </a:solidFill>
              </a:rPr>
              <a:t>Explore Categories
</a:t>
            </a:r>
            <a:r>
              <a:rPr lang="en-US" sz="1200">
                <a:solidFill>
                  <a:srgbClr val="030A18"/>
                </a:solidFill>
              </a:rPr>
              <a:t>The Discover screen offers a search bar and colourful category cards for study, fitness, motivation and chat. Users can quickly find what they need.</a:t>
            </a:r>
            <a:endParaRPr lang="en-US" sz="1600"/>
          </a:p>
        </p:txBody>
      </p:sp>
      <p:sp>
        <p:nvSpPr>
          <p:cNvPr id="5" name="Text 2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70C0"/>
                </a:solidFill>
                <a:hlinkClick r:id="rId4"/>
              </a:rPr>
              <a:t>[1]</a:t>
            </a:r>
            <a:r>
              <a:rPr lang="en-US" sz="600" u="sng">
                <a:solidFill>
                  <a:srgbClr val="0070C0"/>
                </a:solidFill>
              </a:rPr>
              <a:t> </a:t>
            </a:r>
            <a:r>
              <a:rPr lang="en-US" sz="600" u="sng">
                <a:solidFill>
                  <a:srgbClr val="0070C0"/>
                </a:solidFill>
                <a:hlinkClick r:id="rId5"/>
              </a:rPr>
              <a:t>[2]</a:t>
            </a:r>
            <a:endParaRPr lang="en-US" sz="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&amp; Settings</a:t>
            </a:r>
            <a:endParaRPr lang="en-US" sz="2400"/>
          </a:p>
        </p:txBody>
      </p:sp>
      <p:pic>
        <p:nvPicPr>
          <p:cNvPr id="3" name="Image 0" descr="/home/oai/share/profile_settings_screen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192" y="1188720"/>
            <a:ext cx="1832817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30A18"/>
                </a:solidFill>
              </a:rPr>
              <a:t>Personalise Your Experience
</a:t>
            </a:r>
            <a:r>
              <a:rPr lang="en-US" sz="1200">
                <a:solidFill>
                  <a:srgbClr val="030A18"/>
                </a:solidFill>
              </a:rPr>
              <a:t>Users can view their profile, edit preferences, toggle notifications and switch dark mode. Intuitive card layouts keep settings organised.</a:t>
            </a:r>
            <a:endParaRPr lang="en-US" sz="1600"/>
          </a:p>
        </p:txBody>
      </p:sp>
      <p:sp>
        <p:nvSpPr>
          <p:cNvPr id="5" name="Text 2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70C0"/>
                </a:solidFill>
                <a:hlinkClick r:id="rId4"/>
              </a:rPr>
              <a:t>[1]</a:t>
            </a:r>
            <a:r>
              <a:rPr lang="en-US" sz="600" u="sng">
                <a:solidFill>
                  <a:srgbClr val="0070C0"/>
                </a:solidFill>
              </a:rPr>
              <a:t> </a:t>
            </a:r>
            <a:r>
              <a:rPr lang="en-US" sz="600" u="sng">
                <a:solidFill>
                  <a:srgbClr val="0070C0"/>
                </a:solidFill>
                <a:hlinkClick r:id="rId5"/>
              </a:rPr>
              <a:t>[2]</a:t>
            </a:r>
            <a:endParaRPr lang="en-US" sz="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&amp; Engagement</a:t>
            </a:r>
            <a:endParaRPr lang="en-US" sz="2400"/>
          </a:p>
        </p:txBody>
      </p:sp>
      <p:pic>
        <p:nvPicPr>
          <p:cNvPr id="3" name="Image 0" descr="/home/oai/share/notifications_engagement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192" y="1188720"/>
            <a:ext cx="1832817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30A18"/>
                </a:solidFill>
              </a:rPr>
              <a:t>Stay Connected
</a:t>
            </a:r>
            <a:r>
              <a:rPr lang="en-US" sz="1200">
                <a:solidFill>
                  <a:srgbClr val="030A18"/>
                </a:solidFill>
              </a:rPr>
              <a:t>A dedicated feed shows incoming notifications and daily motivational prompts. A toggle invites users to opt‑in for regular engagement.</a:t>
            </a:r>
            <a:endParaRPr lang="en-US" sz="1600"/>
          </a:p>
        </p:txBody>
      </p:sp>
      <p:sp>
        <p:nvSpPr>
          <p:cNvPr id="5" name="Text 2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70C0"/>
                </a:solidFill>
                <a:hlinkClick r:id="rId4"/>
              </a:rPr>
              <a:t>[1]</a:t>
            </a:r>
            <a:r>
              <a:rPr lang="en-US" sz="600" u="sng">
                <a:solidFill>
                  <a:srgbClr val="0070C0"/>
                </a:solidFill>
              </a:rPr>
              <a:t> </a:t>
            </a:r>
            <a:r>
              <a:rPr lang="en-US" sz="600" u="sng">
                <a:solidFill>
                  <a:srgbClr val="0070C0"/>
                </a:solidFill>
                <a:hlinkClick r:id="rId5"/>
              </a:rPr>
              <a:t>[2]</a:t>
            </a:r>
            <a:endParaRPr lang="en-US" sz="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&amp; AI Overview</a:t>
            </a:r>
            <a:endParaRPr lang="en-US" sz="240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4389120" cy="18288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30A18"/>
                          </a:solidFill>
                        </a:rPr>
                        <a:t>API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30A18"/>
                          </a:solidFill>
                        </a:rPr>
                        <a:t>Endpoint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30A18"/>
                          </a:solidFill>
                        </a:rPr>
                        <a:t>Purpose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30A18"/>
                          </a:solidFill>
                        </a:rPr>
                        <a:t>Typhoon (Chat)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30A18"/>
                          </a:solidFill>
                        </a:rPr>
                        <a:t>POST /v1/chat/completions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30A18"/>
                          </a:solidFill>
                        </a:rPr>
                        <a:t>Generate conversational replies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30A18"/>
                          </a:solidFill>
                        </a:rPr>
                        <a:t>Spoonacular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30A18"/>
                          </a:solidFill>
                        </a:rPr>
                        <a:t>GET /recipes/search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30A18"/>
                          </a:solidFill>
                        </a:rPr>
                        <a:t>Search recipes by ingredients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30A18"/>
                          </a:solidFill>
                        </a:rPr>
                        <a:t>Edamam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30A18"/>
                          </a:solidFill>
                        </a:rPr>
                        <a:t>GET /nutrition-data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030A18"/>
                          </a:solidFill>
                        </a:rPr>
                        <a:t>Retrieve nutrition details</a:t>
                      </a:r>
                      <a:endParaRPr lang="en-US" sz="1100"/>
                    </a:p>
                  </a:txBody>
                  <a:tcPr>
                    <a:lnL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0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937760" y="1645920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30A18"/>
                </a:solidFill>
              </a:rPr>
              <a:t>Conversational AI</a:t>
            </a:r>
            <a:r>
              <a:rPr lang="en-US" sz="1200">
                <a:solidFill>
                  <a:srgbClr val="030A18"/>
                </a:solidFill>
              </a:rPr>
              <a:t>
Our chatbot uses Typhoon (OpenAI‑compatible) models to generate human‑like responses.
</a:t>
            </a:r>
            <a:endParaRPr lang="en-US" sz="1600"/>
          </a:p>
          <a:p>
            <a:pPr marL="0" indent="0">
              <a:buNone/>
            </a:pPr>
            <a:r>
              <a:rPr lang="en-US" sz="1600" b="1">
                <a:solidFill>
                  <a:srgbClr val="030A18"/>
                </a:solidFill>
              </a:rPr>
              <a:t>Recipe &amp; Nutrition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200">
                <a:solidFill>
                  <a:srgbClr val="030A18"/>
                </a:solidFill>
              </a:rPr>
              <a:t>Integration with Spoonacular and Edamam APIs enables recipe search and nutritional analysis. Users can ask for meal suggestions or dietary adjustments, and the app retrieves relevant information.</a:t>
            </a:r>
            <a:endParaRPr lang="en-US" sz="1600"/>
          </a:p>
        </p:txBody>
      </p:sp>
      <p:sp>
        <p:nvSpPr>
          <p:cNvPr id="5" name="Text 2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70C0"/>
                </a:solidFill>
                <a:hlinkClick r:id="rId3"/>
              </a:rPr>
              <a:t>[3]</a:t>
            </a:r>
            <a:r>
              <a:rPr lang="en-US" sz="600" u="sng">
                <a:solidFill>
                  <a:srgbClr val="0070C0"/>
                </a:solidFill>
              </a:rPr>
              <a:t> </a:t>
            </a:r>
            <a:r>
              <a:rPr lang="en-US" sz="600" u="sng">
                <a:solidFill>
                  <a:srgbClr val="0070C0"/>
                </a:solidFill>
                <a:hlinkClick r:id="rId4"/>
              </a:rPr>
              <a:t>[4]</a:t>
            </a:r>
            <a:r>
              <a:rPr lang="en-US" sz="600" u="sng">
                <a:solidFill>
                  <a:srgbClr val="0070C0"/>
                </a:solidFill>
              </a:rPr>
              <a:t> </a:t>
            </a:r>
            <a:r>
              <a:rPr lang="en-US" sz="600" u="sng">
                <a:solidFill>
                  <a:srgbClr val="0070C0"/>
                </a:solidFill>
                <a:hlinkClick r:id="rId5"/>
              </a:rPr>
              <a:t>[5]</a:t>
            </a:r>
            <a:endParaRPr lang="en-US" sz="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30A18"/>
                </a:solidFill>
              </a:rPr>
              <a:t>A Cohesive Experience
</a:t>
            </a:r>
            <a:r>
              <a:rPr lang="en-US" sz="1200">
                <a:solidFill>
                  <a:srgbClr val="030A18"/>
                </a:solidFill>
              </a:rPr>
              <a:t>Our AI Chatbot app combines vibrant design, intuitive onboarding, exploratory discovery, personalised settings, and meaningful notifications.
</a:t>
            </a:r>
            <a:endParaRPr lang="en-US" sz="1600"/>
          </a:p>
          <a:p>
            <a:pPr marL="0" indent="0">
              <a:buNone/>
            </a:pPr>
            <a:r>
              <a:rPr lang="en-US" sz="1600" b="1">
                <a:solidFill>
                  <a:srgbClr val="030A18"/>
                </a:solidFill>
              </a:rPr>
              <a:t>Integrated APIs &amp; AI</a:t>
            </a:r>
            <a:endParaRPr lang="en-US" sz="1600"/>
          </a:p>
          <a:p>
            <a:pPr marL="0" indent="0">
              <a:buNone/>
            </a:pPr>
            <a:r>
              <a:rPr lang="en-US" sz="1200">
                <a:solidFill>
                  <a:srgbClr val="030A18"/>
                </a:solidFill>
              </a:rPr>
              <a:t>
Seamless integration of Typhoon chat completions, Spoonacular recipes, and Edamam nutrition data provides real value to users, enabling informative conversations and personalised suggestions.
</a:t>
            </a:r>
            <a:endParaRPr lang="en-US" sz="1600"/>
          </a:p>
          <a:p>
            <a:pPr marL="0" indent="0">
              <a:buNone/>
            </a:pPr>
            <a:r>
              <a:rPr lang="en-US" sz="1600" b="1">
                <a:solidFill>
                  <a:srgbClr val="030A18"/>
                </a:solidFill>
              </a:rPr>
              <a:t>Next Steps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200">
                <a:solidFill>
                  <a:srgbClr val="030A18"/>
                </a:solidFill>
              </a:rPr>
              <a:t>Future enhancements could include voice input, analytics, and more categories. Together, these elements ensure the app continues to delight and inform.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>
                <a:solidFill>
                  <a:srgbClr val="0070C0"/>
                </a:solidFill>
                <a:hlinkClick r:id="rId3"/>
              </a:rPr>
              <a:t>[1]</a:t>
            </a:r>
            <a:r>
              <a:rPr lang="en-US" sz="600" u="sng">
                <a:solidFill>
                  <a:srgbClr val="0070C0"/>
                </a:solidFill>
              </a:rPr>
              <a:t> </a:t>
            </a:r>
            <a:r>
              <a:rPr lang="en-US" sz="600" u="sng">
                <a:solidFill>
                  <a:srgbClr val="0070C0"/>
                </a:solidFill>
                <a:hlinkClick r:id="rId4"/>
              </a:rPr>
              <a:t>[2]</a:t>
            </a:r>
            <a:r>
              <a:rPr lang="en-US" sz="600" u="sng">
                <a:solidFill>
                  <a:srgbClr val="0070C0"/>
                </a:solidFill>
              </a:rPr>
              <a:t> </a:t>
            </a:r>
            <a:r>
              <a:rPr lang="en-US" sz="600" u="sng">
                <a:solidFill>
                  <a:srgbClr val="0070C0"/>
                </a:solidFill>
                <a:hlinkClick r:id="rId5"/>
              </a:rPr>
              <a:t>[3]</a:t>
            </a:r>
            <a:endParaRPr lang="en-US" sz="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2025-09-10T13:48:44Z</dcterms:created>
  <dcterms:modified xsi:type="dcterms:W3CDTF">2025-09-10T13:58:59Z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de0556-1f76-452e-9e94-03158f226e4e_Enabled">
    <vt:lpwstr>true</vt:lpwstr>
  </property>
  <property fmtid="{D5CDD505-2E9C-101B-9397-08002B2CF9AE}" pid="3" name="MSIP_Label_cdde0556-1f76-452e-9e94-03158f226e4e_SetDate">
    <vt:lpwstr>2025-09-10T13:58:52Z</vt:lpwstr>
  </property>
  <property fmtid="{D5CDD505-2E9C-101B-9397-08002B2CF9AE}" pid="4" name="MSIP_Label_cdde0556-1f76-452e-9e94-03158f226e4e_Method">
    <vt:lpwstr>Standard</vt:lpwstr>
  </property>
  <property fmtid="{D5CDD505-2E9C-101B-9397-08002B2CF9AE}" pid="5" name="MSIP_Label_cdde0556-1f76-452e-9e94-03158f226e4e_Name">
    <vt:lpwstr>Private</vt:lpwstr>
  </property>
  <property fmtid="{D5CDD505-2E9C-101B-9397-08002B2CF9AE}" pid="6" name="MSIP_Label_cdde0556-1f76-452e-9e94-03158f226e4e_SiteId">
    <vt:lpwstr>7015a19d-0dbb-4c31-8709-253cf07f631f</vt:lpwstr>
  </property>
  <property fmtid="{D5CDD505-2E9C-101B-9397-08002B2CF9AE}" pid="7" name="MSIP_Label_cdde0556-1f76-452e-9e94-03158f226e4e_ActionId">
    <vt:lpwstr>d474b308-ab82-4f78-8a02-65474a052c5f</vt:lpwstr>
  </property>
  <property fmtid="{D5CDD505-2E9C-101B-9397-08002B2CF9AE}" pid="8" name="MSIP_Label_cdde0556-1f76-452e-9e94-03158f226e4e_ContentBits">
    <vt:lpwstr>0</vt:lpwstr>
  </property>
  <property fmtid="{D5CDD505-2E9C-101B-9397-08002B2CF9AE}" pid="9" name="MSIP_Label_cdde0556-1f76-452e-9e94-03158f226e4e_Tag">
    <vt:lpwstr>10, 3, 0, 2</vt:lpwstr>
  </property>
</Properties>
</file>